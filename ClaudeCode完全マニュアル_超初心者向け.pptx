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1645920"/>
            <a:ext cx="1097280" cy="1097280"/>
          </a:xfrm>
          <a:prstGeom prst="ellipse">
            <a:avLst/>
          </a:prstGeom>
          <a:solidFill>
            <a:srgbClr val="FFD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4572000"/>
            <a:ext cx="731520" cy="731520"/>
          </a:xfrm>
          <a:prstGeom prst="ellipse">
            <a:avLst/>
          </a:prstGeom>
          <a:solidFill>
            <a:srgbClr val="FFD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114800"/>
            <a:ext cx="548640" cy="548640"/>
          </a:xfrm>
          <a:prstGeom prst="ellipse">
            <a:avLst/>
          </a:prstGeom>
          <a:solidFill>
            <a:srgbClr val="5B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86A2E"/>
                </a:solidFill>
              </a:rPr>
              <a:t>🌸 ClaudeCode かんたんスタートガイド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2D2D2D"/>
                </a:solidFill>
              </a:rPr>
              <a:t>～IT音痴でも大丈夫！サルでもわかるマニュアル～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2026年3月23日　Ver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📋 目次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338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1️⃣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ClaudeCodeって何？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21408"/>
            <a:ext cx="11338560" cy="594360"/>
          </a:xfrm>
          <a:prstGeom prst="rect">
            <a:avLst/>
          </a:prstGeom>
          <a:solidFill>
            <a:srgbClr val="F8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6712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2️⃣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6712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準備するもの（必要なもの）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79776"/>
            <a:ext cx="11338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2549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3️⃣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インストール（入れ方）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38144"/>
            <a:ext cx="11338560" cy="594360"/>
          </a:xfrm>
          <a:prstGeom prst="rect">
            <a:avLst/>
          </a:prstGeom>
          <a:solidFill>
            <a:srgbClr val="F8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483863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4️⃣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83863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はじめての起動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96511"/>
            <a:ext cx="11338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42231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5️⃣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42231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基本の使い方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754879"/>
            <a:ext cx="11338560" cy="594360"/>
          </a:xfrm>
          <a:prstGeom prst="rect">
            <a:avLst/>
          </a:prstGeom>
          <a:solidFill>
            <a:srgbClr val="F8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80059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6️⃣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800599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実務での活用例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413247"/>
            <a:ext cx="11338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458967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7️⃣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458967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困ったときのQ&amp;A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071615"/>
            <a:ext cx="11338560" cy="594360"/>
          </a:xfrm>
          <a:prstGeom prst="rect">
            <a:avLst/>
          </a:prstGeom>
          <a:solidFill>
            <a:srgbClr val="F8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117335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8️⃣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6117335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よくあるエラーと対処法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6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ClaudeCodeって何？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🤔 ClaudeCodeは「超賢いアシスタントさん」です！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303520" cy="502920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普通のアシスタント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5303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</a:rPr>
              <a:t>☕ コーヒーを持ってくる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14600"/>
            <a:ext cx="5303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</a:rPr>
              <a:t>📁 書類を整理する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08960"/>
            <a:ext cx="5303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15467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</a:rPr>
              <a:t>📅 スケジュール管理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5303520" cy="502920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17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ClaudeCode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920240"/>
            <a:ext cx="5303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9659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</a:rPr>
              <a:t>✍️ 文章を書いてくれる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514600"/>
            <a:ext cx="5303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560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</a:rPr>
              <a:t>📊 データを整理してくれる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108960"/>
            <a:ext cx="5303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15467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D2D2D"/>
                </a:solidFill>
              </a:rPr>
              <a:t>💻 プログラムを作ってくれる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💡 料理で例えると...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338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👨‍🍳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ClaudeCodeは「レシピを教えてくれる料理の先生」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21408"/>
            <a:ext cx="11338560" cy="594360"/>
          </a:xfrm>
          <a:prstGeom prst="rect">
            <a:avLst/>
          </a:prstGeom>
          <a:solidFill>
            <a:srgbClr val="F8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6712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6712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「代わりに料理を作ってくれる料理人」でもあります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79776"/>
            <a:ext cx="11338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2549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あなたは「何を食べたいか」を言うだけでOK！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38144"/>
            <a:ext cx="11338560" cy="594360"/>
          </a:xfrm>
          <a:prstGeom prst="rect">
            <a:avLst/>
          </a:prstGeom>
          <a:solidFill>
            <a:srgbClr val="F8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483863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🗣️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83863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日本語で普通に話しかければ理解してくれます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96511"/>
            <a:ext cx="11338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42231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42231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何十枚もの文書を数秒で処理できる高速アシスタント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8C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B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準備するもの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5B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✅ 準備するものチェックリスト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338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パソコン（WindowsでもMacでもOK）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21408"/>
            <a:ext cx="11338560" cy="594360"/>
          </a:xfrm>
          <a:prstGeom prst="rect">
            <a:avLst/>
          </a:prstGeom>
          <a:solidFill>
            <a:srgbClr val="F8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6712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6712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インターネット接続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79776"/>
            <a:ext cx="11338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2549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メールアドレス（Gmailで大丈夫）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38144"/>
            <a:ext cx="11338560" cy="594360"/>
          </a:xfrm>
          <a:prstGeom prst="rect">
            <a:avLst/>
          </a:prstGeom>
          <a:solidFill>
            <a:srgbClr val="F8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483863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83863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クレジットカードまたはデビットカード（月額費用の支払い用）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96511"/>
            <a:ext cx="11338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42231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42231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無料プラン：毎月少しだけ使える（まずはこれでOK！）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754879"/>
            <a:ext cx="11338560" cy="594360"/>
          </a:xfrm>
          <a:prstGeom prst="rect">
            <a:avLst/>
          </a:prstGeom>
          <a:solidFill>
            <a:srgbClr val="F8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80059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800599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有料プラン：月 $20（約3,000円）でたくさん使える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AE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インストール（入れ方）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🎯 インストール5ステップ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2154326" cy="914400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201716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201716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アカウント作成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74366" y="1600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86A2E"/>
                </a:solidFill>
              </a:rPr>
              <a:t>▶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468880"/>
            <a:ext cx="2154326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197144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D2D2D"/>
                </a:solidFill>
              </a:rPr>
              <a:t>claude.ai にアクセス</a:t>
            </a:r>
          </a:p>
          <a:p>
            <a:pPr algn="l"/>
            <a:r>
              <a:rPr sz="1300">
                <a:solidFill>
                  <a:srgbClr val="2D2D2D"/>
                </a:solidFill>
              </a:rPr>
              <a:t>「Sign up」をクリック</a:t>
            </a:r>
          </a:p>
          <a:p>
            <a:pPr algn="l"/>
            <a:r>
              <a:rPr sz="1300">
                <a:solidFill>
                  <a:srgbClr val="2D2D2D"/>
                </a:solidFill>
              </a:rPr>
              <a:t>メールアドレスで登録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7246" y="1371600"/>
            <a:ext cx="2154326" cy="914400"/>
          </a:xfrm>
          <a:prstGeom prst="rect">
            <a:avLst/>
          </a:prstGeom>
          <a:solidFill>
            <a:srgbClr val="5B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8686" y="1417320"/>
            <a:ext cx="201716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8686" y="1783080"/>
            <a:ext cx="201716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Node.js を入れる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5852" y="1600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B8CDB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7246" y="2468880"/>
            <a:ext cx="2154326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8686" y="2560320"/>
            <a:ext cx="197144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D2D2D"/>
                </a:solidFill>
              </a:rPr>
              <a:t>nodejs.org にアクセス</a:t>
            </a:r>
          </a:p>
          <a:p>
            <a:pPr algn="l"/>
            <a:r>
              <a:rPr sz="1300">
                <a:solidFill>
                  <a:srgbClr val="2D2D2D"/>
                </a:solidFill>
              </a:rPr>
              <a:t>緑のボタンをクリック</a:t>
            </a:r>
          </a:p>
          <a:p>
            <a:pPr algn="l"/>
            <a:r>
              <a:rPr sz="1300">
                <a:solidFill>
                  <a:srgbClr val="2D2D2D"/>
                </a:solidFill>
              </a:rPr>
              <a:t>「次へ次へ」で完了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48732" y="1371600"/>
            <a:ext cx="2154326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0172" y="1417320"/>
            <a:ext cx="201716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0172" y="1783080"/>
            <a:ext cx="201716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ターミナルを開く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7339" y="1600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7AE60"/>
                </a:solidFill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48732" y="2468880"/>
            <a:ext cx="2154326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0172" y="2560320"/>
            <a:ext cx="197144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D2D2D"/>
                </a:solidFill>
              </a:rPr>
              <a:t>Win: Windowsキー+R</a:t>
            </a:r>
          </a:p>
          <a:p>
            <a:pPr algn="l"/>
            <a:r>
              <a:rPr sz="1300">
                <a:solidFill>
                  <a:srgbClr val="2D2D2D"/>
                </a:solidFill>
              </a:rPr>
              <a:t>「cmd」と入力</a:t>
            </a:r>
          </a:p>
          <a:p>
            <a:pPr algn="l"/>
            <a:r>
              <a:rPr sz="1300">
                <a:solidFill>
                  <a:srgbClr val="2D2D2D"/>
                </a:solidFill>
              </a:rPr>
              <a:t>黒い画面が出たらOK！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0219" y="1371600"/>
            <a:ext cx="2154326" cy="9144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1659" y="1417320"/>
            <a:ext cx="201716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1659" y="1783080"/>
            <a:ext cx="201716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ClaudeCodeを入れる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8825" y="1600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B59B6"/>
                </a:solidFill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40219" y="2468880"/>
            <a:ext cx="2154326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31659" y="2560320"/>
            <a:ext cx="197144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D2D2D"/>
                </a:solidFill>
              </a:rPr>
              <a:t>ターミナルで以下を実行:</a:t>
            </a:r>
          </a:p>
          <a:p>
            <a:pPr algn="l"/>
            <a:r>
              <a:rPr sz="1300">
                <a:solidFill>
                  <a:srgbClr val="2D2D2D"/>
                </a:solidFill>
              </a:rPr>
              <a:t>npm install -g</a:t>
            </a:r>
          </a:p>
          <a:p>
            <a:pPr algn="l"/>
            <a:r>
              <a:rPr sz="1300">
                <a:solidFill>
                  <a:srgbClr val="2D2D2D"/>
                </a:solidFill>
              </a:rPr>
              <a:t>@anthropic-ai/claude-code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31705" y="1371600"/>
            <a:ext cx="2154326" cy="914400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23145" y="1417320"/>
            <a:ext cx="201716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23145" y="1783080"/>
            <a:ext cx="201716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APIキー設定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1705" y="2468880"/>
            <a:ext cx="2154326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23145" y="2560320"/>
            <a:ext cx="197144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D2D2D"/>
                </a:solidFill>
              </a:rPr>
              <a:t>console.anthropic.com</a:t>
            </a:r>
          </a:p>
          <a:p>
            <a:pPr algn="l"/>
            <a:r>
              <a:rPr sz="1300">
                <a:solidFill>
                  <a:srgbClr val="2D2D2D"/>
                </a:solidFill>
              </a:rPr>
              <a:t>「API Keys」→作成</a:t>
            </a:r>
          </a:p>
          <a:p>
            <a:pPr algn="l"/>
            <a:r>
              <a:rPr sz="1300">
                <a:solidFill>
                  <a:srgbClr val="2D2D2D"/>
                </a:solidFill>
              </a:rPr>
              <a:t>sk-ant-... をコピー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🖥️ ターミナルって何？（怖くないよ！）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338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パソコンへの「話しかけ窓口」です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21408"/>
            <a:ext cx="11338560" cy="594360"/>
          </a:xfrm>
          <a:prstGeom prst="rect">
            <a:avLst/>
          </a:prstGeom>
          <a:solidFill>
            <a:srgbClr val="F8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6712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6712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コマンド（呪文）を入力してパソコンに命令する場所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79776"/>
            <a:ext cx="11338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2549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Windowsの場合：「Windowsキー + R」→「cmd」と入力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38144"/>
            <a:ext cx="11338560" cy="594360"/>
          </a:xfrm>
          <a:prstGeom prst="rect">
            <a:avLst/>
          </a:prstGeom>
          <a:solidFill>
            <a:srgbClr val="F8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483863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83863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Macの場合：「Command + スペース」→「ターミナル」と入力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96511"/>
            <a:ext cx="11338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42231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⚠️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42231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APIキーは他人に絶対見せない！（銀行の暗証番号と同じ）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59B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はじめての起動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🚀 ClaudeCodeを起動してみよう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338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1️⃣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ターミナルを開く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21408"/>
            <a:ext cx="11338560" cy="594360"/>
          </a:xfrm>
          <a:prstGeom prst="rect">
            <a:avLst/>
          </a:prstGeom>
          <a:solidFill>
            <a:srgbClr val="F8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6712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2️⃣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6712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「claude」と入力してEnterキーを押す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79776"/>
            <a:ext cx="11338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2549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3️⃣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Welcome to Claude Code! と表示されたら成功！🎉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38144"/>
            <a:ext cx="11338560" cy="594360"/>
          </a:xfrm>
          <a:prstGeom prst="rect">
            <a:avLst/>
          </a:prstGeom>
          <a:solidFill>
            <a:srgbClr val="F8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483863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4️⃣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83863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「こんにちは！」と入力してEnterを押してみよう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96511"/>
            <a:ext cx="11338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42231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5️⃣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42231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ClaudeCodeが返事をしてくれます！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1E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基本の使い方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💬 話しかけ方のコツ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338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NG：「文章書いて」（曖昧すぎる）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21408"/>
            <a:ext cx="11338560" cy="594360"/>
          </a:xfrm>
          <a:prstGeom prst="rect">
            <a:avLst/>
          </a:prstGeom>
          <a:solidFill>
            <a:srgbClr val="F8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6712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6712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OK：「取引先への謝罪メールを書いてください。商品の納期が2日遅れました。丁寧な文体で」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79776"/>
            <a:ext cx="11338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2549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「誰に」を伝える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38144"/>
            <a:ext cx="11338560" cy="594360"/>
          </a:xfrm>
          <a:prstGeom prst="rect">
            <a:avLst/>
          </a:prstGeom>
          <a:solidFill>
            <a:srgbClr val="F8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483863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83863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「何を」を伝える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96511"/>
            <a:ext cx="11338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42231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42231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「どんな感じで」を伝える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754879"/>
            <a:ext cx="11338560" cy="594360"/>
          </a:xfrm>
          <a:prstGeom prst="rect">
            <a:avLst/>
          </a:prstGeom>
          <a:solidFill>
            <a:srgbClr val="F8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80059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800599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この3つを伝えるとぴったりの答えが返ってきます！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8C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B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実務での活用例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5B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📧 実務活用例（前半）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338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例1：ビジネスメールを書いてもらう → 相手・内容・日時を伝えるだけ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21408"/>
            <a:ext cx="11338560" cy="594360"/>
          </a:xfrm>
          <a:prstGeom prst="rect">
            <a:avLst/>
          </a:prstGeom>
          <a:solidFill>
            <a:srgbClr val="F8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6712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6712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例2：Excelのデータを整理してもらう → データをコピー＆ペーストするだけ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79776"/>
            <a:ext cx="11338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2549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✍️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例3：文章の校正をしてもらう → 文章を貼り付けて「校正して」と言うだけ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38144"/>
            <a:ext cx="11338560" cy="594360"/>
          </a:xfrm>
          <a:prstGeom prst="rect">
            <a:avLst/>
          </a:prstGeom>
          <a:solidFill>
            <a:srgbClr val="F8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483863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83863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例4：議事録を作ってもらう → メモを貼り付けて「議事録にして」と言うだけ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5B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🔍 実務活用例（後半）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338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例5：調べ物 → 「中学生でもわかるように説明して」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21408"/>
            <a:ext cx="11338560" cy="594360"/>
          </a:xfrm>
          <a:prstGeom prst="rect">
            <a:avLst/>
          </a:prstGeom>
          <a:solidFill>
            <a:srgbClr val="F8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6712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6712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例6：アイデア出し → 「SNS投稿のアイデアを10個出して」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79776"/>
            <a:ext cx="11338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25496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25496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例7：プログラム作成 → 「sample.csvの売上合計を計算するプログラムを」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38144"/>
            <a:ext cx="11338560" cy="594360"/>
          </a:xfrm>
          <a:prstGeom prst="rect">
            <a:avLst/>
          </a:prstGeom>
          <a:solidFill>
            <a:srgbClr val="F8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483863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83863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ポイント：具体的に伝えるほど、良い答えが返ってくる！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96511"/>
            <a:ext cx="113385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42231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D2D2D"/>
                </a:solidFill>
              </a:rPr>
              <a:t>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42231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2D2D"/>
                </a:solidFill>
              </a:rPr>
              <a:t>気に入らなければ「もう一度、今度は〜で」と言えばOK！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A08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困ったときのQ&amp;A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❓ よくある質問 Q&amp;A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02920" cy="502920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6A2E"/>
                </a:solidFill>
              </a:rPr>
              <a:t>日本語で話しかけても大丈夫？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D2D2D"/>
                </a:solidFill>
              </a:rPr>
              <a:t>大丈夫！ClaudeCodeは日本語をちゃんと理解します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06040"/>
            <a:ext cx="502920" cy="502920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606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06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6A2E"/>
                </a:solidFill>
              </a:rPr>
              <a:t>答えが長すぎて読めない…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54680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154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546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D2D2D"/>
                </a:solidFill>
              </a:rPr>
              <a:t>「もっと短くまとめて。3行でお願いします」と言えばOK！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40480"/>
            <a:ext cx="502920" cy="502920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840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840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6A2E"/>
                </a:solidFill>
              </a:rPr>
              <a:t>答えが難しくてわからない…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389120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389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3891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D2D2D"/>
                </a:solidFill>
              </a:rPr>
              <a:t>「もっと簡単に。小学生でもわかるように」と言えばOK！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074920"/>
            <a:ext cx="502920" cy="502920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074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0749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6A2E"/>
                </a:solidFill>
              </a:rPr>
              <a:t>間違った答えが返ってきた…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623559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62355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623559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D2D2D"/>
                </a:solidFill>
              </a:rPr>
              <a:t>「それは違います。○○については××が正しいです」と訂正して！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6309359"/>
            <a:ext cx="502920" cy="502920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30935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6309359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6A2E"/>
                </a:solidFill>
              </a:rPr>
              <a:t>作業を止めたい！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857999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85799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6857999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D2D2D"/>
                </a:solidFill>
              </a:rPr>
              <a:t>Ctrl + C を同時に押すと止まります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03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よくあるエラーと対処法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🔴 よくあるエラーと対処法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1133856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99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🔴 「command not found」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10512"/>
            <a:ext cx="11338560" cy="41148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3794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2D2D"/>
                </a:solidFill>
              </a:rPr>
              <a:t>意味: ClaudeCodeが見つかりません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49424"/>
            <a:ext cx="113385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7685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2D2D"/>
                </a:solidFill>
              </a:rPr>
              <a:t>対処: ターミナルを再起動 → npm install -g @anthropic-ai/claude-code を再実行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98064"/>
            <a:ext cx="1133856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2549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🔴 「API key not found」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36976"/>
            <a:ext cx="11338560" cy="41148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644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2D2D"/>
                </a:solidFill>
              </a:rPr>
              <a:t>意味: APIキーが設定されていません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75887"/>
            <a:ext cx="113385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703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2D2D"/>
                </a:solidFill>
              </a:rPr>
              <a:t>対処: set ANTHROPIC_API_KEY=sk-ant-xxx（Win）/ export ANTHROPIC_API_KEY=sk-ant-xxx（Mac）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24527"/>
            <a:ext cx="1133856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25195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🔴 文字化けして読めない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663440"/>
            <a:ext cx="11338560" cy="41148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6908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2D2D"/>
                </a:solidFill>
              </a:rPr>
              <a:t>意味: 文字の表示がおかしい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102352"/>
            <a:ext cx="113385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12978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2D2D"/>
                </a:solidFill>
              </a:rPr>
              <a:t>対処: 「日本語で回答してください」と入力。直らない場合はターミナルを再起動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650992"/>
            <a:ext cx="1133856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6784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🔴 動きが遅い・固まった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089904"/>
            <a:ext cx="11338560" cy="41148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11733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2D2D"/>
                </a:solidFill>
              </a:rPr>
              <a:t>意味: 処理中かインターネット不安定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528816"/>
            <a:ext cx="113385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56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2D2D"/>
                </a:solidFill>
              </a:rPr>
              <a:t>対処: 1〜2分待つ → Ctrl+C で止めてやり直す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2D2D"/>
                </a:solidFill>
              </a:rPr>
              <a:t>🌟 上手に使うための黄金ルール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48640" cy="594360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371600"/>
            <a:ext cx="3200400" cy="594360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43560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具体的に伝える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371600"/>
            <a:ext cx="7498079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43560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D2D2D"/>
                </a:solidFill>
              </a:rPr>
              <a:t>「文章書いて」より「○○宛ての○○についてのメールを書いて」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57400"/>
            <a:ext cx="548640" cy="594360"/>
          </a:xfrm>
          <a:prstGeom prst="rect">
            <a:avLst/>
          </a:prstGeom>
          <a:solidFill>
            <a:srgbClr val="5B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05740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057400"/>
            <a:ext cx="3200400" cy="594360"/>
          </a:xfrm>
          <a:prstGeom prst="rect">
            <a:avLst/>
          </a:prstGeom>
          <a:solidFill>
            <a:srgbClr val="5B8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2140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一度に一つずつ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057400"/>
            <a:ext cx="7498079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12140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D2D2D"/>
                </a:solidFill>
              </a:rPr>
              <a:t>複数の作業は一つずつお願いする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43200"/>
            <a:ext cx="54864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74320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2743200"/>
            <a:ext cx="320040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280720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気に入らなければやり直しを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743200"/>
            <a:ext cx="7498079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80720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D2D2D"/>
                </a:solidFill>
              </a:rPr>
              <a:t>「もう一度、今度は〜で書いてください」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29000"/>
            <a:ext cx="548640" cy="5943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42900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3429000"/>
            <a:ext cx="3200400" cy="5943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349300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大切な情報は手動で保存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429000"/>
            <a:ext cx="7498079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349300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D2D2D"/>
                </a:solidFill>
              </a:rPr>
              <a:t>回答はコピーしてメモ帳などに貼り付けて保存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14800"/>
            <a:ext cx="548640" cy="594360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11480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4114800"/>
            <a:ext cx="3200400" cy="594360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417880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個人情報は入力しない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4114800"/>
            <a:ext cx="7498079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417880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D2D2D"/>
                </a:solidFill>
              </a:rPr>
              <a:t>本名・住所・クレジットカード番号は絶対NG！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6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🎉 さあ、始めましょう！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ClaudeCodeを起動して「こんにちは！」と話しかけるだけ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657600"/>
            <a:ext cx="29260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3749039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6A2E"/>
                </a:solidFill>
              </a:rPr>
              <a:t>① ClaudeCodeを起動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3657600"/>
            <a:ext cx="29260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3749039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6A2E"/>
                </a:solidFill>
              </a:rPr>
              <a:t>② 「こんにちは！」と入力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3657600"/>
            <a:ext cx="29260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3749039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6A2E"/>
                </a:solidFill>
              </a:rPr>
              <a:t>③ それだけ！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4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D0B0"/>
                </a:solidFill>
              </a:rPr>
              <a:t>このマニュアルは随時更新されます。困ったことがあればいつでも相談してください。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